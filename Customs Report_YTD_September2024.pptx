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4CF"/>
    <a:srgbClr val="1F5CE5"/>
    <a:srgbClr val="17BFBB"/>
    <a:srgbClr val="00445C"/>
    <a:srgbClr val="02B0FE"/>
    <a:srgbClr val="85817B"/>
    <a:srgbClr val="9A1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7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Libro3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MX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MX" dirty="0" err="1"/>
              <a:t>Import</a:t>
            </a:r>
            <a:r>
              <a:rPr lang="es-MX" dirty="0"/>
              <a:t> Operations (</a:t>
            </a:r>
            <a:r>
              <a:rPr lang="es-MX" baseline="0" dirty="0"/>
              <a:t>Pedimentos </a:t>
            </a:r>
            <a:r>
              <a:rPr lang="es-MX" baseline="0" dirty="0" err="1"/>
              <a:t>Quantity</a:t>
            </a:r>
            <a:r>
              <a:rPr lang="es-MX" baseline="0" dirty="0"/>
              <a:t>)</a:t>
            </a:r>
          </a:p>
        </c:rich>
      </c:tx>
      <c:layout>
        <c:manualLayout>
          <c:xMode val="edge"/>
          <c:yMode val="edge"/>
          <c:x val="0.23403933263466764"/>
          <c:y val="2.34746675234276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216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67</c:v>
                </c:pt>
                <c:pt idx="1">
                  <c:v>74</c:v>
                </c:pt>
                <c:pt idx="2">
                  <c:v>106</c:v>
                </c:pt>
                <c:pt idx="3">
                  <c:v>119</c:v>
                </c:pt>
                <c:pt idx="4">
                  <c:v>67</c:v>
                </c:pt>
                <c:pt idx="5">
                  <c:v>52</c:v>
                </c:pt>
                <c:pt idx="6">
                  <c:v>107</c:v>
                </c:pt>
                <c:pt idx="7">
                  <c:v>104</c:v>
                </c:pt>
                <c:pt idx="8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6-4D14-83B8-ABF6287504E9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AF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116-4D14-83B8-ABF6287504E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16-4D14-83B8-ABF6287504E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16-4D14-83B8-ABF6287504E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116-4D14-83B8-ABF6287504E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116-4D14-83B8-ABF628750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5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16-4D14-83B8-ABF6287504E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A1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chemeClr val="accent5">
                  <a:lumMod val="75000"/>
                  <a:alpha val="63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Hoja1!$D$2:$D$10</c:f>
              <c:numCache>
                <c:formatCode>General</c:formatCode>
                <c:ptCount val="9"/>
                <c:pt idx="0">
                  <c:v>57</c:v>
                </c:pt>
                <c:pt idx="1">
                  <c:v>60</c:v>
                </c:pt>
                <c:pt idx="2">
                  <c:v>102</c:v>
                </c:pt>
                <c:pt idx="3">
                  <c:v>109</c:v>
                </c:pt>
                <c:pt idx="4">
                  <c:v>61</c:v>
                </c:pt>
                <c:pt idx="5">
                  <c:v>58</c:v>
                </c:pt>
                <c:pt idx="6">
                  <c:v>74</c:v>
                </c:pt>
                <c:pt idx="7">
                  <c:v>85</c:v>
                </c:pt>
                <c:pt idx="8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16-4D14-83B8-ABF628750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125331968"/>
        <c:axId val="79685888"/>
      </c:barChart>
      <c:catAx>
        <c:axId val="125331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9685888"/>
        <c:crosses val="autoZero"/>
        <c:auto val="1"/>
        <c:lblAlgn val="ctr"/>
        <c:lblOffset val="100"/>
        <c:noMultiLvlLbl val="0"/>
      </c:catAx>
      <c:valAx>
        <c:axId val="79685888"/>
        <c:scaling>
          <c:orientation val="minMax"/>
          <c:max val="200"/>
          <c:min val="0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5331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lang="es-MX" sz="1800"/>
      </a:pPr>
      <a:endParaRPr lang="es-MX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/>
                </a:solidFill>
              </a:rPr>
              <a:t>Import Value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(USD millions)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Indirect Material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#,##0.00</c:formatCode>
                <c:ptCount val="9"/>
                <c:pt idx="0" formatCode="General">
                  <c:v>0.29399999999999998</c:v>
                </c:pt>
                <c:pt idx="1">
                  <c:v>0.34499999999999997</c:v>
                </c:pt>
                <c:pt idx="2">
                  <c:v>1.3</c:v>
                </c:pt>
                <c:pt idx="3">
                  <c:v>0.40500000000000003</c:v>
                </c:pt>
                <c:pt idx="4" formatCode="General">
                  <c:v>0.313</c:v>
                </c:pt>
                <c:pt idx="5" formatCode="General">
                  <c:v>0.29699999999999999</c:v>
                </c:pt>
                <c:pt idx="6" formatCode="General">
                  <c:v>0.27700000000000002</c:v>
                </c:pt>
                <c:pt idx="7" formatCode="General">
                  <c:v>0.442</c:v>
                </c:pt>
                <c:pt idx="8" formatCode="General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D6-4D84-A078-07A36E76D180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Raw Material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>
                <a:glow rad="12700">
                  <a:schemeClr val="accent1">
                    <a:alpha val="40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2-A1DF-4BA8-B0E0-FC5C4FDCAF5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D6-4D84-A078-07A36E76D18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Hoja1!$C$2:$C$10</c:f>
              <c:numCache>
                <c:formatCode>#,##0.00</c:formatCode>
                <c:ptCount val="9"/>
                <c:pt idx="0" formatCode="General">
                  <c:v>3.84</c:v>
                </c:pt>
                <c:pt idx="1">
                  <c:v>7.03</c:v>
                </c:pt>
                <c:pt idx="2">
                  <c:v>9.9</c:v>
                </c:pt>
                <c:pt idx="3">
                  <c:v>8.98</c:v>
                </c:pt>
                <c:pt idx="4" formatCode="General">
                  <c:v>5.52</c:v>
                </c:pt>
                <c:pt idx="5" formatCode="General">
                  <c:v>8.6</c:v>
                </c:pt>
                <c:pt idx="6" formatCode="General">
                  <c:v>7.22</c:v>
                </c:pt>
                <c:pt idx="7" formatCode="General">
                  <c:v>8.07</c:v>
                </c:pt>
                <c:pt idx="8" formatCode="General">
                  <c:v>6.5039999999999996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D6-4D84-A078-07A36E76D180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Fixed Asset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DF-4BA8-B0E0-FC5C4FDCAF5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DF-4BA8-B0E0-FC5C4FDCAF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Hoja1!$D$2:$D$10</c:f>
              <c:numCache>
                <c:formatCode>General</c:formatCode>
                <c:ptCount val="9"/>
                <c:pt idx="1">
                  <c:v>0</c:v>
                </c:pt>
                <c:pt idx="2">
                  <c:v>0.54900000000000004</c:v>
                </c:pt>
                <c:pt idx="3">
                  <c:v>0</c:v>
                </c:pt>
                <c:pt idx="6">
                  <c:v>0.46800000000000003</c:v>
                </c:pt>
                <c:pt idx="7">
                  <c:v>1.2769999999999999</c:v>
                </c:pt>
                <c:pt idx="8">
                  <c:v>0.93799999999999994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F-4BA8-B0E0-FC5C4FDCAF5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308879648"/>
        <c:axId val="1308878208"/>
      </c:barChart>
      <c:catAx>
        <c:axId val="13088796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308878208"/>
        <c:crosses val="autoZero"/>
        <c:auto val="1"/>
        <c:lblAlgn val="ctr"/>
        <c:lblOffset val="100"/>
        <c:noMultiLvlLbl val="0"/>
      </c:catAx>
      <c:valAx>
        <c:axId val="1308878208"/>
        <c:scaling>
          <c:orientation val="minMax"/>
          <c:max val="12.5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308879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MX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MX" dirty="0" err="1"/>
              <a:t>Export</a:t>
            </a:r>
            <a:r>
              <a:rPr lang="es-MX" dirty="0"/>
              <a:t> Operations per</a:t>
            </a:r>
            <a:r>
              <a:rPr lang="es-MX" baseline="0" dirty="0"/>
              <a:t> </a:t>
            </a:r>
            <a:r>
              <a:rPr lang="es-MX" baseline="0" dirty="0" err="1"/>
              <a:t>Truck</a:t>
            </a:r>
            <a:endParaRPr lang="es-MX" baseline="0" dirty="0"/>
          </a:p>
          <a:p>
            <a:pPr>
              <a:defRPr/>
            </a:pPr>
            <a:endParaRPr lang="es-MX" sz="1600" baseline="0" dirty="0" err="1"/>
          </a:p>
          <a:p>
            <a:pPr>
              <a:defRPr/>
            </a:pPr>
            <a:r>
              <a:rPr lang="es-MX" sz="1600" baseline="0" dirty="0" err="1"/>
              <a:t>(Quantity)</a:t>
            </a:r>
            <a:endParaRPr lang="es-MX" sz="16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216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>
        <c:manualLayout>
          <c:layoutTarget val="inner"/>
          <c:xMode val="edge"/>
          <c:yMode val="edge"/>
          <c:x val="4.6929871118843898E-2"/>
          <c:y val="0.17784964457125699"/>
          <c:w val="0.86101666111170305"/>
          <c:h val="0.7403496099686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RT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58</c:v>
                </c:pt>
                <c:pt idx="1">
                  <c:v>144</c:v>
                </c:pt>
                <c:pt idx="2">
                  <c:v>163</c:v>
                </c:pt>
                <c:pt idx="3">
                  <c:v>119</c:v>
                </c:pt>
                <c:pt idx="4">
                  <c:v>153</c:v>
                </c:pt>
                <c:pt idx="5">
                  <c:v>154</c:v>
                </c:pt>
                <c:pt idx="6">
                  <c:v>31</c:v>
                </c:pt>
                <c:pt idx="7">
                  <c:v>114</c:v>
                </c:pt>
                <c:pt idx="8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16-4D8D-987A-502F56F702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125182976"/>
        <c:axId val="79690496"/>
      </c:barChart>
      <c:catAx>
        <c:axId val="125182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79690496"/>
        <c:crosses val="autoZero"/>
        <c:auto val="1"/>
        <c:lblAlgn val="ctr"/>
        <c:lblOffset val="100"/>
        <c:noMultiLvlLbl val="0"/>
      </c:catAx>
      <c:valAx>
        <c:axId val="79690496"/>
        <c:scaling>
          <c:orientation val="minMax"/>
          <c:max val="200"/>
          <c:min val="10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5182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lang="es-MX" sz="1800"/>
      </a:pPr>
      <a:endParaRPr lang="es-MX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/>
              <a:t>Export Value</a:t>
            </a:r>
          </a:p>
          <a:p>
            <a:pPr>
              <a:defRPr/>
            </a:pPr>
            <a:r>
              <a:rPr lang="en-US"/>
              <a:t>(Million 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3 M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C1F-4953-8F16-A23BD294A7B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7</a:t>
                    </a:r>
                    <a:r>
                      <a:rPr lang="en-US" baseline="0" dirty="0"/>
                      <a:t> M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C1F-4953-8F16-A23BD294A7B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12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C1F-4953-8F16-A23BD294A7B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7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C1F-4953-8F16-A23BD294A7B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#,##0</c:formatCode>
                <c:ptCount val="9"/>
                <c:pt idx="0" formatCode="General">
                  <c:v>3</c:v>
                </c:pt>
                <c:pt idx="1">
                  <c:v>7.45</c:v>
                </c:pt>
                <c:pt idx="2">
                  <c:v>11.71</c:v>
                </c:pt>
                <c:pt idx="3" formatCode="#,##0.00">
                  <c:v>7</c:v>
                </c:pt>
                <c:pt idx="4" formatCode="General">
                  <c:v>11</c:v>
                </c:pt>
                <c:pt idx="5" formatCode="General">
                  <c:v>16</c:v>
                </c:pt>
                <c:pt idx="6" formatCode="General">
                  <c:v>5</c:v>
                </c:pt>
                <c:pt idx="7" formatCode="General">
                  <c:v>4</c:v>
                </c:pt>
                <c:pt idx="8" formatCode="General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1F-4953-8F16-A23BD294A7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166702160"/>
        <c:axId val="1166702640"/>
      </c:barChart>
      <c:catAx>
        <c:axId val="116670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s-MX"/>
          </a:p>
        </c:txPr>
        <c:crossAx val="1166702640"/>
        <c:crosses val="autoZero"/>
        <c:auto val="1"/>
        <c:lblAlgn val="ctr"/>
        <c:lblOffset val="100"/>
        <c:noMultiLvlLbl val="0"/>
      </c:catAx>
      <c:valAx>
        <c:axId val="11667026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6670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SPECIAL OPERATIONS (FROM TEMPORARY TO PERMANENT BASIS)</a:t>
            </a:r>
          </a:p>
        </c:rich>
      </c:tx>
      <c:layout>
        <c:manualLayout>
          <c:xMode val="edge"/>
          <c:yMode val="edge"/>
          <c:x val="0.18056249999999999"/>
          <c:y val="4.687499711644949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QUANTITY OF PEDIMENTOS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-540000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64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0375083128485428E-2"/>
                      <c:h val="3.8915265042571451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68E-4CAD-9E42-8E0BFA29E2A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24</c:v>
                </c:pt>
                <c:pt idx="1">
                  <c:v>26</c:v>
                </c:pt>
                <c:pt idx="2">
                  <c:v>28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20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8E-4CAD-9E42-8E0BFA29E2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84675904"/>
        <c:axId val="1584677344"/>
      </c:barChart>
      <c:catAx>
        <c:axId val="15846759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84677344"/>
        <c:crosses val="autoZero"/>
        <c:auto val="1"/>
        <c:lblAlgn val="ctr"/>
        <c:lblOffset val="100"/>
        <c:noMultiLvlLbl val="0"/>
      </c:catAx>
      <c:valAx>
        <c:axId val="15846773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8467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s-MX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Import</a:t>
            </a:r>
            <a:r>
              <a:rPr lang="en-US" baseline="0" dirty="0"/>
              <a:t> VAT</a:t>
            </a:r>
          </a:p>
          <a:p>
            <a:pPr>
              <a:defRPr lang="es-MX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aseline="0" dirty="0"/>
              <a:t>(Amount USD in millions)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0423399838160899E-2"/>
          <c:y val="0.17213089492305"/>
          <c:w val="0.76445512125418202"/>
          <c:h val="0.746068359616858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1"/>
              <c:layout>
                <c:manualLayout>
                  <c:x val="-1.16016974653671E-3"/>
                  <c:y val="-3.28124979815146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AB0-4922-960A-70ABE29EA59B}"/>
                </c:ext>
              </c:extLst>
            </c:dLbl>
            <c:dLbl>
              <c:idx val="2"/>
              <c:layout>
                <c:manualLayout>
                  <c:x val="0"/>
                  <c:y val="-3.51562478373370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B0-4922-960A-70ABE29EA5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_("$"* #,##0.00_);_("$"* \(#,##0.00\);_("$"* "-"??_);_(@_)</c:formatCode>
                <c:ptCount val="9"/>
                <c:pt idx="0">
                  <c:v>0.67</c:v>
                </c:pt>
                <c:pt idx="1">
                  <c:v>2.4700000000000002</c:v>
                </c:pt>
                <c:pt idx="2">
                  <c:v>1.84</c:v>
                </c:pt>
                <c:pt idx="3">
                  <c:v>1.49</c:v>
                </c:pt>
                <c:pt idx="4">
                  <c:v>0.95299999999999996</c:v>
                </c:pt>
                <c:pt idx="5">
                  <c:v>1.5</c:v>
                </c:pt>
                <c:pt idx="6">
                  <c:v>1.3</c:v>
                </c:pt>
                <c:pt idx="7">
                  <c:v>1.8</c:v>
                </c:pt>
                <c:pt idx="8">
                  <c:v>1.66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AB0-4922-960A-70ABE29EA59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VAT Credit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Hoja1!$C$2:$C$10</c:f>
              <c:numCache>
                <c:formatCode>_("$"* #,##0.00_);_("$"* \(#,##0.00\);_("$"* "-"??_);_(@_)</c:formatCode>
                <c:ptCount val="9"/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AB0-4922-960A-70ABE29EA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126084608"/>
        <c:axId val="162286976"/>
      </c:barChart>
      <c:lineChart>
        <c:grouping val="standard"/>
        <c:varyColors val="0"/>
        <c:ser>
          <c:idx val="2"/>
          <c:order val="2"/>
          <c:tx>
            <c:strRef>
              <c:f>Hoja1!$D$1</c:f>
              <c:strCache>
                <c:ptCount val="1"/>
                <c:pt idx="0">
                  <c:v>Total</c:v>
                </c:pt>
              </c:strCache>
            </c:strRef>
          </c:tx>
          <c:spPr>
            <a:ln w="44450" cap="rnd" cmpd="sng" algn="ctr">
              <a:solidFill>
                <a:schemeClr val="accent5"/>
              </a:solidFill>
              <a:prstDash val="solid"/>
              <a:round/>
            </a:ln>
            <a:effectLst/>
          </c:spPr>
          <c:marker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6350" cap="flat" cmpd="sng" algn="ctr">
                <a:solidFill>
                  <a:schemeClr val="accent5"/>
                </a:solidFill>
                <a:prstDash val="solid"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Hoja1!$D$2:$D$10</c:f>
              <c:numCache>
                <c:formatCode>General</c:formatCode>
                <c:ptCount val="9"/>
                <c:pt idx="0">
                  <c:v>0.67</c:v>
                </c:pt>
                <c:pt idx="1">
                  <c:v>2.4700000000000002</c:v>
                </c:pt>
                <c:pt idx="2">
                  <c:v>1.84</c:v>
                </c:pt>
                <c:pt idx="3">
                  <c:v>1.49</c:v>
                </c:pt>
                <c:pt idx="4">
                  <c:v>0.95299999999999996</c:v>
                </c:pt>
                <c:pt idx="5">
                  <c:v>1.5</c:v>
                </c:pt>
                <c:pt idx="6">
                  <c:v>1.3</c:v>
                </c:pt>
                <c:pt idx="7">
                  <c:v>1.8</c:v>
                </c:pt>
                <c:pt idx="8">
                  <c:v>1.66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AB0-4922-960A-70ABE29EA5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084608"/>
        <c:axId val="162286976"/>
      </c:lineChart>
      <c:catAx>
        <c:axId val="126084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62286976"/>
        <c:crosses val="autoZero"/>
        <c:auto val="1"/>
        <c:lblAlgn val="ctr"/>
        <c:lblOffset val="100"/>
        <c:noMultiLvlLbl val="0"/>
      </c:catAx>
      <c:valAx>
        <c:axId val="162286976"/>
        <c:scaling>
          <c:orientation val="minMax"/>
          <c:max val="4"/>
        </c:scaling>
        <c:delete val="0"/>
        <c:axPos val="l"/>
        <c:majorGridlines>
          <c:spPr>
            <a:ln w="6350" cap="flat" cmpd="sng" algn="ctr">
              <a:solidFill>
                <a:schemeClr val="tx1">
                  <a:tint val="7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tint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2608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996072779732001"/>
          <c:y val="0.24358130883481099"/>
          <c:w val="0.14655876296306999"/>
          <c:h val="0.195153715849303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lang="es-MX" sz="1800"/>
      </a:pPr>
      <a:endParaRPr lang="es-MX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[Libro3]Hoja8!Tabla 
dinámica9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s-MX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GID Savings (Thousands USD)</a:t>
            </a:r>
          </a:p>
        </c:rich>
      </c:tx>
      <c:layout>
        <c:manualLayout>
          <c:xMode val="edge"/>
          <c:yMode val="edge"/>
          <c:x val="0.34061087220200698"/>
          <c:y val="9.6951218639932002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s-MX"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[Libro3]Hoja8!$B$3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[Libro3]Hoja8!$A$4:$A$12</c:f>
              <c:strCache>
                <c:ptCount val="8"/>
                <c:pt idx="0">
                  <c:v>$105.80 </c:v>
                </c:pt>
                <c:pt idx="1">
                  <c:v>$152.60 </c:v>
                </c:pt>
                <c:pt idx="2">
                  <c:v>$170.10 </c:v>
                </c:pt>
                <c:pt idx="3">
                  <c:v>$241.70 </c:v>
                </c:pt>
                <c:pt idx="4">
                  <c:v>$245.00 </c:v>
                </c:pt>
                <c:pt idx="5">
                  <c:v>$247.70 </c:v>
                </c:pt>
                <c:pt idx="6">
                  <c:v>$258.10 </c:v>
                </c:pt>
                <c:pt idx="7">
                  <c:v>$291.60 </c:v>
                </c:pt>
              </c:strCache>
            </c:strRef>
          </c:cat>
          <c:val>
            <c:numRef>
              <c:f>[Libro3]Hoja8!$B$4:$B$12</c:f>
              <c:numCache>
                <c:formatCode>General</c:formatCode>
                <c:ptCount val="8"/>
                <c:pt idx="0">
                  <c:v>105.8</c:v>
                </c:pt>
                <c:pt idx="1">
                  <c:v>152.6</c:v>
                </c:pt>
                <c:pt idx="2">
                  <c:v>170.1</c:v>
                </c:pt>
                <c:pt idx="3">
                  <c:v>241.7</c:v>
                </c:pt>
                <c:pt idx="4">
                  <c:v>245</c:v>
                </c:pt>
                <c:pt idx="5">
                  <c:v>247.7</c:v>
                </c:pt>
                <c:pt idx="6">
                  <c:v>258.10000000000002</c:v>
                </c:pt>
                <c:pt idx="7">
                  <c:v>291.60000000000002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CF-4C9F-8348-8F33556D43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20080661"/>
        <c:axId val="529430928"/>
      </c:lineChart>
      <c:catAx>
        <c:axId val="92008066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529430928"/>
        <c:crosses val="autoZero"/>
        <c:auto val="1"/>
        <c:lblAlgn val="ctr"/>
        <c:lblOffset val="100"/>
        <c:noMultiLvlLbl val="0"/>
      </c:catAx>
      <c:valAx>
        <c:axId val="52943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9200806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s-MX"/>
      </a:pPr>
      <a:endParaRPr lang="es-MX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Duties Paid (GID)</a:t>
            </a:r>
          </a:p>
          <a:p>
            <a:pPr>
              <a:defRPr/>
            </a:pPr>
            <a:r>
              <a:rPr lang="en-US" dirty="0"/>
              <a:t>USD (THOUSANDS)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INDIRECT MATERIAL</c:v>
                </c:pt>
              </c:strCache>
            </c:strRef>
          </c:tx>
          <c:spPr>
            <a:solidFill>
              <a:schemeClr val="accent3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22</c:v>
                </c:pt>
                <c:pt idx="1">
                  <c:v>61</c:v>
                </c:pt>
                <c:pt idx="2">
                  <c:v>46</c:v>
                </c:pt>
                <c:pt idx="3">
                  <c:v>34</c:v>
                </c:pt>
                <c:pt idx="4">
                  <c:v>39</c:v>
                </c:pt>
                <c:pt idx="5">
                  <c:v>56</c:v>
                </c:pt>
                <c:pt idx="6">
                  <c:v>57</c:v>
                </c:pt>
                <c:pt idx="7">
                  <c:v>64</c:v>
                </c:pt>
                <c:pt idx="8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8-4501-ADDC-D8DDD5E00FDB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MACHINARY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Hoja1!$C$2:$C$10</c:f>
              <c:numCache>
                <c:formatCode>General</c:formatCode>
                <c:ptCount val="9"/>
                <c:pt idx="6">
                  <c:v>0.501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38-4501-ADDC-D8DDD5E00FDB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RAW MATERIAL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Hoja1!$D$2:$D$10</c:f>
              <c:numCache>
                <c:formatCode>General</c:formatCode>
                <c:ptCount val="9"/>
                <c:pt idx="0">
                  <c:v>18</c:v>
                </c:pt>
                <c:pt idx="1">
                  <c:v>95</c:v>
                </c:pt>
                <c:pt idx="2">
                  <c:v>62</c:v>
                </c:pt>
                <c:pt idx="3">
                  <c:v>44</c:v>
                </c:pt>
                <c:pt idx="4">
                  <c:v>45</c:v>
                </c:pt>
                <c:pt idx="5">
                  <c:v>53</c:v>
                </c:pt>
                <c:pt idx="6">
                  <c:v>188</c:v>
                </c:pt>
                <c:pt idx="7">
                  <c:v>106</c:v>
                </c:pt>
                <c:pt idx="8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38-4501-ADDC-D8DDD5E00FD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452060880"/>
        <c:axId val="213499552"/>
      </c:barChart>
      <c:catAx>
        <c:axId val="1452060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13499552"/>
        <c:crosses val="autoZero"/>
        <c:auto val="1"/>
        <c:lblAlgn val="ctr"/>
        <c:lblOffset val="100"/>
        <c:noMultiLvlLbl val="0"/>
      </c:catAx>
      <c:valAx>
        <c:axId val="213499552"/>
        <c:scaling>
          <c:orientation val="minMax"/>
          <c:max val="2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452060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>
          <a:lumMod val="15000"/>
          <a:lumOff val="85000"/>
          <a:alpha val="95000"/>
        </a:schemeClr>
      </a:solidFill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MX"/>
              <a:t>IMPORT AND EXPORT CUSTOMS REVISION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IMPORT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8</c:v>
                </c:pt>
                <c:pt idx="1">
                  <c:v>17</c:v>
                </c:pt>
                <c:pt idx="2">
                  <c:v>29</c:v>
                </c:pt>
                <c:pt idx="3">
                  <c:v>25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11</c:v>
                </c:pt>
                <c:pt idx="8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C2-46D6-8E23-9D569A0A6DA6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EXPORT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</c:v>
                </c:pt>
              </c:strCache>
            </c:strRef>
          </c:cat>
          <c:val>
            <c:numRef>
              <c:f>Hoja1!$C$2:$C$10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3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C2-46D6-8E23-9D569A0A6D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77673040"/>
        <c:axId val="1677676400"/>
      </c:barChart>
      <c:catAx>
        <c:axId val="167767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677676400"/>
        <c:crosses val="autoZero"/>
        <c:auto val="1"/>
        <c:lblAlgn val="ctr"/>
        <c:lblOffset val="100"/>
        <c:noMultiLvlLbl val="0"/>
      </c:catAx>
      <c:valAx>
        <c:axId val="1677676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677673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340534231073475"/>
          <c:y val="0.93901159697505021"/>
          <c:w val="0.19645339251818333"/>
          <c:h val="6.09884030249497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26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3">
      <cs:styleClr val="auto"/>
    </cs:fillRef>
    <cs:effectRef idx="3">
      <a:schemeClr val="dk1"/>
    </cs:effectRef>
    <cs:fontRef idx="minor">
      <a:schemeClr val="tx1"/>
    </cs:fontRef>
  </cs:dataPoint>
  <cs:dataPoint3D>
    <cs:lnRef idx="0"/>
    <cs:fillRef idx="3">
      <cs:styleClr val="auto"/>
    </cs:fillRef>
    <cs:effectRef idx="3">
      <a:schemeClr val="dk1"/>
    </cs:effectRef>
    <cs:fontRef idx="minor">
      <a:schemeClr val="tx1"/>
    </cs:fontRef>
  </cs:dataPoint3D>
  <cs:dataPointLine>
    <cs:lnRef idx="1">
      <cs:styleClr val="auto"/>
    </cs:lnRef>
    <cs:lineWidthScale>7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3">
      <cs:styleClr val="auto"/>
    </cs:fillRef>
    <cs:effectRef idx="3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0"/>
    <cs:fillRef idx="3">
      <a:schemeClr val="dk1">
        <a:tint val="95000"/>
      </a:schemeClr>
    </cs:fillRef>
    <cs:effectRef idx="3">
      <a:schemeClr val="dk1"/>
    </cs:effectRef>
    <cs:fontRef idx="minor">
      <a:schemeClr val="tx1"/>
    </cs:fontRef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0"/>
    <cs:fillRef idx="3">
      <a:schemeClr val="dk1">
        <a:tint val="5000"/>
      </a:schemeClr>
    </cs:fillRef>
    <cs:effectRef idx="3">
      <a:schemeClr val="dk1"/>
    </cs:effectRef>
    <cs:fontRef idx="minor">
      <a:schemeClr val="tx1"/>
    </cs:fontRef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26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3">
      <cs:styleClr val="auto"/>
    </cs:fillRef>
    <cs:effectRef idx="3">
      <a:schemeClr val="dk1"/>
    </cs:effectRef>
    <cs:fontRef idx="minor">
      <a:schemeClr val="tx1"/>
    </cs:fontRef>
  </cs:dataPoint>
  <cs:dataPoint3D>
    <cs:lnRef idx="0"/>
    <cs:fillRef idx="3">
      <cs:styleClr val="auto"/>
    </cs:fillRef>
    <cs:effectRef idx="3">
      <a:schemeClr val="dk1"/>
    </cs:effectRef>
    <cs:fontRef idx="minor">
      <a:schemeClr val="tx1"/>
    </cs:fontRef>
  </cs:dataPoint3D>
  <cs:dataPointLine>
    <cs:lnRef idx="1">
      <cs:styleClr val="auto"/>
    </cs:lnRef>
    <cs:lineWidthScale>7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3">
      <cs:styleClr val="auto"/>
    </cs:fillRef>
    <cs:effectRef idx="3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0"/>
    <cs:fillRef idx="3">
      <a:schemeClr val="dk1">
        <a:tint val="95000"/>
      </a:schemeClr>
    </cs:fillRef>
    <cs:effectRef idx="3">
      <a:schemeClr val="dk1"/>
    </cs:effectRef>
    <cs:fontRef idx="minor">
      <a:schemeClr val="tx1"/>
    </cs:fontRef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0"/>
    <cs:fillRef idx="3">
      <a:schemeClr val="dk1">
        <a:tint val="5000"/>
      </a:schemeClr>
    </cs:fillRef>
    <cs:effectRef idx="3">
      <a:schemeClr val="dk1"/>
    </cs:effectRef>
    <cs:fontRef idx="minor">
      <a:schemeClr val="tx1"/>
    </cs:fontRef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2695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6719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s-MX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761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533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625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480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166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5717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220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42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515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7F66E53-9DF3-4A4C-A294-C4E89B42FDBA}" type="datetimeFigureOut">
              <a:rPr lang="es-MX" smtClean="0"/>
              <a:t>18/10/2024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B3A466B-A7BB-4D3E-B5D2-4376DC3EC2D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734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OTOCICLETE - CFMOTO 300SR '20 - Moto-kawasaki.ro">
            <a:extLst>
              <a:ext uri="{FF2B5EF4-FFF2-40B4-BE49-F238E27FC236}">
                <a16:creationId xmlns:a16="http://schemas.microsoft.com/office/drawing/2014/main" id="{9BD64FB6-D64E-4A27-6853-2AE6A0195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1677" y="1485008"/>
            <a:ext cx="9368645" cy="194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1922F5D-ED2D-2EA4-BC19-CDE1C0FA0EB6}"/>
              </a:ext>
            </a:extLst>
          </p:cNvPr>
          <p:cNvSpPr>
            <a:spLocks noGrp="1"/>
          </p:cNvSpPr>
          <p:nvPr/>
        </p:nvSpPr>
        <p:spPr>
          <a:xfrm>
            <a:off x="895336" y="4417918"/>
            <a:ext cx="7274303" cy="19101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4800" dirty="0" err="1"/>
              <a:t>January</a:t>
            </a:r>
            <a:r>
              <a:rPr lang="es-MX" sz="4800" dirty="0"/>
              <a:t> </a:t>
            </a:r>
            <a:r>
              <a:rPr lang="es-MX" sz="4800" dirty="0" err="1"/>
              <a:t>to</a:t>
            </a:r>
            <a:r>
              <a:rPr lang="es-MX" sz="4800" dirty="0"/>
              <a:t> </a:t>
            </a:r>
            <a:r>
              <a:rPr lang="es-MX" sz="4800" dirty="0" err="1"/>
              <a:t>September</a:t>
            </a:r>
            <a:r>
              <a:rPr lang="es-MX" sz="4800" dirty="0"/>
              <a:t> (YTD)</a:t>
            </a:r>
            <a:br>
              <a:rPr lang="es-MX" sz="4800" dirty="0"/>
            </a:br>
            <a:r>
              <a:rPr lang="es-MX" sz="4800" dirty="0" err="1"/>
              <a:t>Customs</a:t>
            </a:r>
            <a:r>
              <a:rPr lang="es-MX" sz="4800" dirty="0"/>
              <a:t> </a:t>
            </a:r>
            <a:r>
              <a:rPr lang="es-MX" sz="4800" dirty="0" err="1"/>
              <a:t>Report</a:t>
            </a:r>
            <a:endParaRPr lang="es-MX" sz="4800" dirty="0"/>
          </a:p>
        </p:txBody>
      </p:sp>
    </p:spTree>
    <p:extLst>
      <p:ext uri="{BB962C8B-B14F-4D97-AF65-F5344CB8AC3E}">
        <p14:creationId xmlns:p14="http://schemas.microsoft.com/office/powerpoint/2010/main" val="89597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62019A-FD03-3642-65FC-52BC2F269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84" y="484632"/>
            <a:ext cx="4741963" cy="19719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AGENDA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214E22-8B30-ED56-9192-173317DAD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60CE1A-A2ED-43AC-857D-05822177F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598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482E9D39-B5E1-D4C0-C205-5FAFF3EE8689}"/>
              </a:ext>
            </a:extLst>
          </p:cNvPr>
          <p:cNvSpPr>
            <a:spLocks noGrp="1"/>
          </p:cNvSpPr>
          <p:nvPr/>
        </p:nvSpPr>
        <p:spPr>
          <a:xfrm>
            <a:off x="6386286" y="2456596"/>
            <a:ext cx="4741962" cy="3715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Import Operation</a:t>
            </a:r>
          </a:p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Export Operation</a:t>
            </a:r>
          </a:p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Special Operations</a:t>
            </a:r>
          </a:p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Import VAT</a:t>
            </a:r>
          </a:p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Duties Savings</a:t>
            </a:r>
          </a:p>
          <a:p>
            <a:pPr marL="371475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/>
              <a:t>Customs Revision</a:t>
            </a:r>
          </a:p>
          <a:p>
            <a:pPr marL="0" indent="-182880"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pic>
        <p:nvPicPr>
          <p:cNvPr id="4" name="Picture 2" descr="CFMOTO México">
            <a:extLst>
              <a:ext uri="{FF2B5EF4-FFF2-40B4-BE49-F238E27FC236}">
                <a16:creationId xmlns:a16="http://schemas.microsoft.com/office/drawing/2014/main" id="{C0700437-E73A-D7F5-092D-06FE9C03D2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266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FMOTO México">
            <a:extLst>
              <a:ext uri="{FF2B5EF4-FFF2-40B4-BE49-F238E27FC236}">
                <a16:creationId xmlns:a16="http://schemas.microsoft.com/office/drawing/2014/main" id="{22DE1768-C965-3B9D-DFF6-E3123DC13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1 Gráfico">
            <a:extLst>
              <a:ext uri="{FF2B5EF4-FFF2-40B4-BE49-F238E27FC236}">
                <a16:creationId xmlns:a16="http://schemas.microsoft.com/office/drawing/2014/main" id="{B91DF751-719C-A36A-7342-05CC7EF8D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9285621"/>
              </p:ext>
            </p:extLst>
          </p:nvPr>
        </p:nvGraphicFramePr>
        <p:xfrm>
          <a:off x="734829" y="453452"/>
          <a:ext cx="10722343" cy="5951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469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EC292-991E-4C8F-9F55-D72971A4B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B7573-D2CD-4589-B099-E8254726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5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6A041F-C32D-4E9C-AD9A-6F8F9710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1" y="480059"/>
            <a:ext cx="11237976" cy="589788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C7F0330-355E-B815-ABDC-E5D8D94E1E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6772317"/>
              </p:ext>
            </p:extLst>
          </p:nvPr>
        </p:nvGraphicFramePr>
        <p:xfrm>
          <a:off x="831321" y="803063"/>
          <a:ext cx="10599597" cy="525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5" name="Picture 2" descr="CFMOTO México">
            <a:extLst>
              <a:ext uri="{FF2B5EF4-FFF2-40B4-BE49-F238E27FC236}">
                <a16:creationId xmlns:a16="http://schemas.microsoft.com/office/drawing/2014/main" id="{EC5B6F6E-9055-A772-138D-1A7B43DCC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62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1 Gráfico">
            <a:extLst>
              <a:ext uri="{FF2B5EF4-FFF2-40B4-BE49-F238E27FC236}">
                <a16:creationId xmlns:a16="http://schemas.microsoft.com/office/drawing/2014/main" id="{C30EC768-0BFD-B61B-26BB-3291A40B13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675267"/>
              </p:ext>
            </p:extLst>
          </p:nvPr>
        </p:nvGraphicFramePr>
        <p:xfrm>
          <a:off x="320358" y="506413"/>
          <a:ext cx="11551285" cy="584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2" descr="CFMOTO México">
            <a:extLst>
              <a:ext uri="{FF2B5EF4-FFF2-40B4-BE49-F238E27FC236}">
                <a16:creationId xmlns:a16="http://schemas.microsoft.com/office/drawing/2014/main" id="{3930ADC9-EA97-5FFC-6F84-81726D71E1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99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EC292-991E-4C8F-9F55-D72971A4B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B7573-D2CD-4589-B099-E8254726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5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6A041F-C32D-4E9C-AD9A-6F8F9710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1" y="480059"/>
            <a:ext cx="11237976" cy="589788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9E205F9-BDBF-FDED-F668-938BA750D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109528"/>
              </p:ext>
            </p:extLst>
          </p:nvPr>
        </p:nvGraphicFramePr>
        <p:xfrm>
          <a:off x="796201" y="803062"/>
          <a:ext cx="10599597" cy="525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5" name="Picture 2" descr="CFMOTO México">
            <a:extLst>
              <a:ext uri="{FF2B5EF4-FFF2-40B4-BE49-F238E27FC236}">
                <a16:creationId xmlns:a16="http://schemas.microsoft.com/office/drawing/2014/main" id="{D4E8DA9D-FAE8-3CB2-664F-7C984040D7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20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0BB6C5C-4D8B-72AD-D5F5-E7D7B836DF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614115"/>
              </p:ext>
            </p:extLst>
          </p:nvPr>
        </p:nvGraphicFramePr>
        <p:xfrm>
          <a:off x="479685" y="719666"/>
          <a:ext cx="11077731" cy="547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5" name="Picture 2" descr="CFMOTO México">
            <a:extLst>
              <a:ext uri="{FF2B5EF4-FFF2-40B4-BE49-F238E27FC236}">
                <a16:creationId xmlns:a16="http://schemas.microsoft.com/office/drawing/2014/main" id="{8305144E-8B23-D54F-DDD9-05B319E116A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675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C5EC292-991E-4C8F-9F55-D72971A4B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0B7573-D2CD-4589-B099-E8254726A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blipFill dpi="0" rotWithShape="1">
            <a:blip r:embed="rId4">
              <a:alphaModFix amt="5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26A041F-C32D-4E9C-AD9A-6F8F9710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1" y="480059"/>
            <a:ext cx="11237976" cy="5897880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1 Gráfico">
            <a:extLst>
              <a:ext uri="{FF2B5EF4-FFF2-40B4-BE49-F238E27FC236}">
                <a16:creationId xmlns:a16="http://schemas.microsoft.com/office/drawing/2014/main" id="{C1C4F236-FFD9-7988-E1E0-E592DD41F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76750"/>
              </p:ext>
            </p:extLst>
          </p:nvPr>
        </p:nvGraphicFramePr>
        <p:xfrm>
          <a:off x="796201" y="803062"/>
          <a:ext cx="10599597" cy="525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5" name="Picture 2" descr="CFMOTO México">
            <a:extLst>
              <a:ext uri="{FF2B5EF4-FFF2-40B4-BE49-F238E27FC236}">
                <a16:creationId xmlns:a16="http://schemas.microsoft.com/office/drawing/2014/main" id="{9DEFCC00-1625-345C-628B-1EC95F8DEA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570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68D38D3-5699-025E-A0F1-9192D81433DD}"/>
              </a:ext>
            </a:extLst>
          </p:cNvPr>
          <p:cNvGraphicFramePr/>
          <p:nvPr/>
        </p:nvGraphicFramePr>
        <p:xfrm>
          <a:off x="1200785" y="464820"/>
          <a:ext cx="9790430" cy="592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2" descr="CFMOTO México">
            <a:extLst>
              <a:ext uri="{FF2B5EF4-FFF2-40B4-BE49-F238E27FC236}">
                <a16:creationId xmlns:a16="http://schemas.microsoft.com/office/drawing/2014/main" id="{21B1B85B-FE78-7076-1D73-06F1C1FA76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25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4AD1FA77-4CF3-D712-6A5E-6B55B2953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757253"/>
              </p:ext>
            </p:extLst>
          </p:nvPr>
        </p:nvGraphicFramePr>
        <p:xfrm>
          <a:off x="203199" y="284952"/>
          <a:ext cx="11743961" cy="5816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2" descr="CFMOTO México">
            <a:extLst>
              <a:ext uri="{FF2B5EF4-FFF2-40B4-BE49-F238E27FC236}">
                <a16:creationId xmlns:a16="http://schemas.microsoft.com/office/drawing/2014/main" id="{9DA26AF0-D0CC-7DD0-DEA5-C04FDB404C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256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FMOTO México">
            <a:extLst>
              <a:ext uri="{FF2B5EF4-FFF2-40B4-BE49-F238E27FC236}">
                <a16:creationId xmlns:a16="http://schemas.microsoft.com/office/drawing/2014/main" id="{F191F4F2-280D-B438-958E-6001EF458A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63549" cy="96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AD40088C-7BDE-2ED7-510C-28A6D7E99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5118434"/>
              </p:ext>
            </p:extLst>
          </p:nvPr>
        </p:nvGraphicFramePr>
        <p:xfrm>
          <a:off x="809469" y="719666"/>
          <a:ext cx="11062741" cy="5396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1568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TM03090434[[fn=Letras en madera]]</Template>
  <TotalTime>333</TotalTime>
  <Words>94</Words>
  <Application>Microsoft Office PowerPoint</Application>
  <PresentationFormat>Panorámica</PresentationFormat>
  <Paragraphs>30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Rockwell</vt:lpstr>
      <vt:lpstr>Rockwell Condensed</vt:lpstr>
      <vt:lpstr>Wingdings</vt:lpstr>
      <vt:lpstr>Letras en madera</vt:lpstr>
      <vt:lpstr>Presentación de PowerPoint</vt:lpstr>
      <vt:lpstr>AGENDA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CFM-LOG09</dc:creator>
  <cp:lastModifiedBy>CFM-LOG09</cp:lastModifiedBy>
  <cp:revision>2</cp:revision>
  <dcterms:created xsi:type="dcterms:W3CDTF">2024-10-18T15:10:53Z</dcterms:created>
  <dcterms:modified xsi:type="dcterms:W3CDTF">2024-10-18T20:44:37Z</dcterms:modified>
</cp:coreProperties>
</file>